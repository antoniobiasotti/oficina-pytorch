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Montserrat"/>
      <p:regular r:id="rId36"/>
      <p:bold r:id="rId37"/>
      <p:italic r:id="rId38"/>
      <p:boldItalic r:id="rId39"/>
    </p:embeddedFont>
    <p:embeddedFont>
      <p:font typeface="Comfortaa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mfortaa-regular.fntdata"/><Relationship Id="rId20" Type="http://schemas.openxmlformats.org/officeDocument/2006/relationships/slide" Target="slides/slide14.xml"/><Relationship Id="rId41" Type="http://schemas.openxmlformats.org/officeDocument/2006/relationships/font" Target="fonts/Comfortaa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Montserrat-bold.fntdata"/><Relationship Id="rId14" Type="http://schemas.openxmlformats.org/officeDocument/2006/relationships/slide" Target="slides/slide8.xml"/><Relationship Id="rId36" Type="http://schemas.openxmlformats.org/officeDocument/2006/relationships/font" Target="fonts/Montserrat-regular.fntdata"/><Relationship Id="rId17" Type="http://schemas.openxmlformats.org/officeDocument/2006/relationships/slide" Target="slides/slide11.xml"/><Relationship Id="rId39" Type="http://schemas.openxmlformats.org/officeDocument/2006/relationships/font" Target="fonts/Montserrat-boldItalic.fntdata"/><Relationship Id="rId16" Type="http://schemas.openxmlformats.org/officeDocument/2006/relationships/slide" Target="slides/slide10.xml"/><Relationship Id="rId38" Type="http://schemas.openxmlformats.org/officeDocument/2006/relationships/font" Target="fonts/Montserrat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21b03bff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21b03bff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bafb807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bafb807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21b03bff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21b03bff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21b03bff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21b03bff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bafb807a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4bafb807a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4bafb807a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4bafb807a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226a2a18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226a2a18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226a2a18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5226a2a18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226a2a1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226a2a1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bafb807a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bafb807a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226a2a18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226a2a18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226a2a18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226a2a18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226a2a18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5226a2a18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2280a4b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52280a4b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4b9898fc27_0_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4b9898fc27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b9898fc27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4b9898fc27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4b9898fc27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4b9898fc27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4b9898fc27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4b9898fc27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4b9898fc27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4b9898fc2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b9898fc27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4b9898fc27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21b03bff9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521b03bff9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4b9898fc27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4b9898fc2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4b9898fc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4b9898fc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4b9898fc27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4b9898fc27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4b9898fc2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4b9898fc2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4b9898fc27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4b9898fc27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4b9898fc27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4b9898fc27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4b9898fc27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4b9898fc27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4b9898fc27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4b9898fc27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Relationship Id="rId4" Type="http://schemas.openxmlformats.org/officeDocument/2006/relationships/image" Target="../media/image15.png"/><Relationship Id="rId5" Type="http://schemas.openxmlformats.org/officeDocument/2006/relationships/image" Target="../media/image24.png"/><Relationship Id="rId6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Relationship Id="rId4" Type="http://schemas.openxmlformats.org/officeDocument/2006/relationships/image" Target="../media/image15.png"/><Relationship Id="rId11" Type="http://schemas.openxmlformats.org/officeDocument/2006/relationships/image" Target="../media/image25.png"/><Relationship Id="rId10" Type="http://schemas.openxmlformats.org/officeDocument/2006/relationships/image" Target="../media/image22.png"/><Relationship Id="rId9" Type="http://schemas.openxmlformats.org/officeDocument/2006/relationships/image" Target="../media/image18.png"/><Relationship Id="rId5" Type="http://schemas.openxmlformats.org/officeDocument/2006/relationships/image" Target="../media/image24.png"/><Relationship Id="rId6" Type="http://schemas.openxmlformats.org/officeDocument/2006/relationships/image" Target="../media/image16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31.png"/><Relationship Id="rId6" Type="http://schemas.openxmlformats.org/officeDocument/2006/relationships/image" Target="../media/image28.png"/><Relationship Id="rId7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1838250" y="310275"/>
            <a:ext cx="5467500" cy="873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algn="bl">
              <a:schemeClr val="dk1"/>
            </a:outerShdw>
            <a:reflection blurRad="0" dir="5400000" dist="38100" endA="0" fadeDir="5400012" kx="0" rotWithShape="0" algn="bl" stA="52000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DEEP LEARNING</a:t>
            </a:r>
            <a:endParaRPr sz="5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type="title"/>
          </p:nvPr>
        </p:nvSpPr>
        <p:spPr>
          <a:xfrm>
            <a:off x="311700" y="445025"/>
            <a:ext cx="85206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Computação Natural: Tudo pode ser descrito por uma função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26"/>
          <p:cNvSpPr txBox="1"/>
          <p:nvPr/>
        </p:nvSpPr>
        <p:spPr>
          <a:xfrm>
            <a:off x="502825" y="1599600"/>
            <a:ext cx="8156100" cy="3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Computação Natural é uma área da ciência que une conhecimento sobre comportamentos e mecanismos naturais para desenvolver algoritmos computacionais.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Exemplos: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Cellular Automata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 Intelligence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Neural Networks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26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type="title"/>
          </p:nvPr>
        </p:nvSpPr>
        <p:spPr>
          <a:xfrm>
            <a:off x="311700" y="445025"/>
            <a:ext cx="85206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Computação Natural: Tudo pode ser descrito por uma função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27"/>
          <p:cNvSpPr txBox="1"/>
          <p:nvPr/>
        </p:nvSpPr>
        <p:spPr>
          <a:xfrm>
            <a:off x="502825" y="1599600"/>
            <a:ext cx="8156100" cy="3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 o aumento na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complexidade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dos problemas abordados pela computação, a modelagem exata de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comportamentos naturais e sistemas complexos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passa a ser computacionalmente inatingível. 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Nesses casos, é melhor modelar o objeto de estudo com um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algoritmo iterativo que se aproxime de uma resposta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(com uma certa margem de erro), do que tentar fazer uma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descrição matemática exata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do que está sendo estudado.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27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19" name="Google Shape;11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788" y="419749"/>
            <a:ext cx="6916426" cy="430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25" name="Google Shape;12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625" y="404662"/>
            <a:ext cx="8208749" cy="433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31" name="Google Shape;13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925" y="500063"/>
            <a:ext cx="8058150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37" name="Google Shape;13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7638"/>
            <a:ext cx="8839201" cy="3788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43" name="Google Shape;14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988" y="427338"/>
            <a:ext cx="7818024" cy="428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49" name="Google Shape;149;p33"/>
          <p:cNvPicPr preferRelativeResize="0"/>
          <p:nvPr/>
        </p:nvPicPr>
        <p:blipFill rotWithShape="1">
          <a:blip r:embed="rId3">
            <a:alphaModFix/>
          </a:blip>
          <a:srcRect b="9294" l="10174" r="10340" t="5743"/>
          <a:stretch/>
        </p:blipFill>
        <p:spPr>
          <a:xfrm>
            <a:off x="1377712" y="648188"/>
            <a:ext cx="6388575" cy="38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4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55" name="Google Shape;15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263" y="590550"/>
            <a:ext cx="4181475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5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61" name="Google Shape;16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388" y="307538"/>
            <a:ext cx="7531232" cy="452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67" name="Google Shape;16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100" y="1052513"/>
            <a:ext cx="6019800" cy="30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7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73" name="Google Shape;173;p37" title="N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502" y="632438"/>
            <a:ext cx="6877000" cy="387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8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79" name="Google Shape;179;p38" title="1*7CJRMAomDwc8HBtaD6LqlQ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538" y="619075"/>
            <a:ext cx="6948925" cy="39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9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Revisão de Machine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5" name="Google Shape;185;p39"/>
          <p:cNvSpPr txBox="1"/>
          <p:nvPr>
            <p:ph type="title"/>
          </p:nvPr>
        </p:nvSpPr>
        <p:spPr>
          <a:xfrm>
            <a:off x="311700" y="445025"/>
            <a:ext cx="85206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Conceitos Importantes: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39"/>
          <p:cNvSpPr txBox="1"/>
          <p:nvPr>
            <p:ph idx="1" type="body"/>
          </p:nvPr>
        </p:nvSpPr>
        <p:spPr>
          <a:xfrm>
            <a:off x="311700" y="1156975"/>
            <a:ext cx="8520600" cy="8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Sistemas Lineares vs. Não-Lineares</a:t>
            </a:r>
            <a:endParaRPr b="1" sz="8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9"/>
          <p:cNvSpPr txBox="1"/>
          <p:nvPr/>
        </p:nvSpPr>
        <p:spPr>
          <a:xfrm>
            <a:off x="156375" y="1772725"/>
            <a:ext cx="4222200" cy="30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Sistemas Lineares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saída é diretamente proporcional à entrada. A relação entre variáveis pode ser descrita por uma equação linear, ou seja, a soma das entradas resulta na soma das saídas correspondentes.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Propriedades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i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Superposição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A combinação linear de soluções também é uma solução.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i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Facilidade de Solução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Possuem métodos analíticos e computacionais bem definidos para solução, como a Transformada de Fourier e a Transformada de Laplace.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Exemplos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Circuitos elétricos RLC, equações diferenciais lineares.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39"/>
          <p:cNvSpPr txBox="1"/>
          <p:nvPr/>
        </p:nvSpPr>
        <p:spPr>
          <a:xfrm>
            <a:off x="4837500" y="1772725"/>
            <a:ext cx="39948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Sistemas Não Lineares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relação entre entrada e saída não é diretamente proporcional. Pequenas mudanças na entrada podem levar a grandes mudanças na saída, e a soma das entradas não resulta em uma soma das saídas.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Propriedades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i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Complexidade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Podem exibir comportamentos complexos como caos e bifurcações.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i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Dificuldade de Solução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Frequentemente requerem métodos numéricos ou simulações para serem resolvidos.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Exemplos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Redes neurais, sistemas climáticos, dinâmicas populacionais.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9" name="Google Shape;18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8688" y="180463"/>
            <a:ext cx="3095625" cy="14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0"/>
          <p:cNvSpPr txBox="1"/>
          <p:nvPr>
            <p:ph type="title"/>
          </p:nvPr>
        </p:nvSpPr>
        <p:spPr>
          <a:xfrm>
            <a:off x="311700" y="445025"/>
            <a:ext cx="85206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Problemas abordados: Classificação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40"/>
          <p:cNvSpPr txBox="1"/>
          <p:nvPr>
            <p:ph idx="1" type="body"/>
          </p:nvPr>
        </p:nvSpPr>
        <p:spPr>
          <a:xfrm>
            <a:off x="396775" y="1156975"/>
            <a:ext cx="4260300" cy="8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que são algoritmos de classificação?</a:t>
            </a:r>
            <a:endParaRPr b="1" sz="8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0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Revisão de Machine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97" name="Google Shape;19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1275" y="1461775"/>
            <a:ext cx="4091024" cy="29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40"/>
          <p:cNvSpPr txBox="1"/>
          <p:nvPr/>
        </p:nvSpPr>
        <p:spPr>
          <a:xfrm>
            <a:off x="396775" y="1958575"/>
            <a:ext cx="4091100" cy="30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Algoritmos de classificação servem para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classificar objetos ou elementos em diferentes classes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de acordo com as suas características. Essas características podem ser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medidas qualitativas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como cor, tamanho, modelo, etc. ou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medidas quantitativas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como valor, idade, tamanho, etc.</a:t>
            </a:r>
            <a:endParaRPr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1"/>
          <p:cNvSpPr txBox="1"/>
          <p:nvPr>
            <p:ph type="title"/>
          </p:nvPr>
        </p:nvSpPr>
        <p:spPr>
          <a:xfrm>
            <a:off x="311700" y="445025"/>
            <a:ext cx="85206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Problemas abordados: Regressão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41"/>
          <p:cNvSpPr txBox="1"/>
          <p:nvPr>
            <p:ph idx="1" type="body"/>
          </p:nvPr>
        </p:nvSpPr>
        <p:spPr>
          <a:xfrm>
            <a:off x="396775" y="1156975"/>
            <a:ext cx="4260300" cy="8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 que são algoritmos de regressão?</a:t>
            </a:r>
            <a:endParaRPr b="1" sz="8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1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Revisão de Machine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06" name="Google Shape;206;p41"/>
          <p:cNvSpPr txBox="1"/>
          <p:nvPr/>
        </p:nvSpPr>
        <p:spPr>
          <a:xfrm>
            <a:off x="396775" y="2063425"/>
            <a:ext cx="3759000" cy="17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Algoritmos de regressão buscam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prever o comportamento de um fenômeno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 função das suas variáveis explicativas.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7" name="Google Shape;20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5850" y="1156975"/>
            <a:ext cx="4676625" cy="311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Revisão de Machine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13" name="Google Shape;213;p42"/>
          <p:cNvSpPr txBox="1"/>
          <p:nvPr>
            <p:ph type="title"/>
          </p:nvPr>
        </p:nvSpPr>
        <p:spPr>
          <a:xfrm>
            <a:off x="311700" y="445025"/>
            <a:ext cx="85206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Conceitos Importantes: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42"/>
          <p:cNvSpPr txBox="1"/>
          <p:nvPr>
            <p:ph idx="1" type="body"/>
          </p:nvPr>
        </p:nvSpPr>
        <p:spPr>
          <a:xfrm>
            <a:off x="435475" y="1156975"/>
            <a:ext cx="21444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Features</a:t>
            </a:r>
            <a:endParaRPr b="1" sz="8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2"/>
          <p:cNvSpPr txBox="1"/>
          <p:nvPr/>
        </p:nvSpPr>
        <p:spPr>
          <a:xfrm>
            <a:off x="435475" y="1654700"/>
            <a:ext cx="4136400" cy="21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 ML, features são as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características mensuráveis do objeto de estudo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Elas podem ser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pré-definidas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quando se trabalha com uma base de dados robusta e já analisada, ou podem ser aprendidas, por meio de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Algoritmos de Feature Learning.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6" name="Google Shape;21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3400" y="1466813"/>
            <a:ext cx="4267326" cy="2209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3"/>
          <p:cNvSpPr txBox="1"/>
          <p:nvPr>
            <p:ph type="title"/>
          </p:nvPr>
        </p:nvSpPr>
        <p:spPr>
          <a:xfrm>
            <a:off x="311700" y="445025"/>
            <a:ext cx="85206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Learning: Conceitos fundamentais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43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23" name="Google Shape;223;p43"/>
          <p:cNvSpPr txBox="1"/>
          <p:nvPr>
            <p:ph idx="1" type="body"/>
          </p:nvPr>
        </p:nvSpPr>
        <p:spPr>
          <a:xfrm>
            <a:off x="396775" y="1022225"/>
            <a:ext cx="4260300" cy="8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Comportamentos emergentes</a:t>
            </a:r>
            <a:endParaRPr b="1" sz="8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3"/>
          <p:cNvSpPr txBox="1"/>
          <p:nvPr/>
        </p:nvSpPr>
        <p:spPr>
          <a:xfrm>
            <a:off x="142175" y="1514175"/>
            <a:ext cx="89136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Definição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Fenômenos complexos que surgem de interações simples entre componentes de um sistema.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Não podem ser previstos apenas pela análise das partes isoladas, pois o comportamento coletivo é maior do que a soma das partes.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Fundamental para entender sistemas complexos como o cérebro, ecossistemas, e sociedades humanas.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Utilizado para criar sistemas que aprendem e se adaptam de maneira autônoma.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Características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i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Auto-organização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O sistema se organiza de forma espontânea sem controle central.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i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Inovação Coletiva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Novos padrões, estruturas ou comportamentos surgem sem serem explicitamente programados.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i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Dependência de Interações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Pequenas alterações nas interações podem levar a grandes mudanças no comportamento global.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Exemplos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i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Enxames de Pássaros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Coordenação de voo sem líder.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i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Economias de Mercado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Flutuações de preços com base em decisões descentralizadas.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i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Redes Neurais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Reconhecimento de padrões a partir de simples unidades interconectadas.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4"/>
          <p:cNvSpPr txBox="1"/>
          <p:nvPr>
            <p:ph type="title"/>
          </p:nvPr>
        </p:nvSpPr>
        <p:spPr>
          <a:xfrm>
            <a:off x="240625" y="338100"/>
            <a:ext cx="85206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Learning: Conceitos fundamentais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44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31" name="Google Shape;231;p44"/>
          <p:cNvSpPr txBox="1"/>
          <p:nvPr>
            <p:ph idx="1" type="body"/>
          </p:nvPr>
        </p:nvSpPr>
        <p:spPr>
          <a:xfrm>
            <a:off x="311700" y="915300"/>
            <a:ext cx="4260300" cy="8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Aprendizado Supervisionado e  Underfitting/Overfitting</a:t>
            </a:r>
            <a:endParaRPr b="1" sz="8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4"/>
          <p:cNvSpPr txBox="1"/>
          <p:nvPr/>
        </p:nvSpPr>
        <p:spPr>
          <a:xfrm>
            <a:off x="142150" y="1606450"/>
            <a:ext cx="30000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Aprendizado Supervisionado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Técnica de Machine Learning onde o modelo é treinado usando um conjunto de dados rotulado, ou seja, onde as entradas e as saídas desejadas são conhecidas.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Objetivo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Aprender uma função que mapeia entradas (features) para saídas (labels), permitindo fazer previsões precisas em novos dados.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Exemplos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Classificação de emails como spam ou não-spam, predição de preços de casas.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44"/>
          <p:cNvSpPr txBox="1"/>
          <p:nvPr/>
        </p:nvSpPr>
        <p:spPr>
          <a:xfrm>
            <a:off x="3142150" y="1606450"/>
            <a:ext cx="3000000" cy="3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Underfitting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Ocorre quando o modelo é muito simples para capturar a complexidade dos dados, resultando em baixa performance tanto no conjunto de treinamento quanto no de teste.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Sintomas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Elevado erro de treinamento e teste. O modelo falha em detectar padrões nos dados.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Solução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Aumentar a complexidade do modelo, adicionar mais features, ou reduzir a regularização.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44"/>
          <p:cNvSpPr txBox="1"/>
          <p:nvPr/>
        </p:nvSpPr>
        <p:spPr>
          <a:xfrm>
            <a:off x="6013550" y="1606450"/>
            <a:ext cx="3000000" cy="3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Overfitting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Ocorre quando o modelo se ajusta demais aos dados de treinamento, capturando ruído ou padrões irrelevantes, resultando em baixa generalização para novos dados.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Sintomas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Excelente performance no conjunto de treinamento, mas baixo desempenho no conjunto de teste.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Solução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Utilizar técnicas como regularização, aumentar o conjunto de dados, ou usar validação cruzada para ajustar a complexidade do modelo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5"/>
          <p:cNvSpPr txBox="1"/>
          <p:nvPr>
            <p:ph type="title"/>
          </p:nvPr>
        </p:nvSpPr>
        <p:spPr>
          <a:xfrm>
            <a:off x="311700" y="445025"/>
            <a:ext cx="85206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Learning: Conceitos fundamentais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45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45"/>
          <p:cNvSpPr txBox="1"/>
          <p:nvPr>
            <p:ph idx="1" type="body"/>
          </p:nvPr>
        </p:nvSpPr>
        <p:spPr>
          <a:xfrm>
            <a:off x="396775" y="1156975"/>
            <a:ext cx="4260300" cy="8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Neurônio/Perceptron</a:t>
            </a:r>
            <a:endParaRPr b="1" sz="8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1075" y="1022225"/>
            <a:ext cx="3619291" cy="1818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5"/>
          <p:cNvSpPr txBox="1"/>
          <p:nvPr/>
        </p:nvSpPr>
        <p:spPr>
          <a:xfrm>
            <a:off x="4763125" y="2840700"/>
            <a:ext cx="4142400" cy="23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Componentes Principais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Entradas (Inputs)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Representam as características ou dados de entrada que o neurônio recebe.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Pesos (Weights)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Valores ajustáveis que determinam a importância de cada entrada.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Soma Ponderada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As entradas são multiplicadas pelos pesos e somadas.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Função de Ativação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○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Aplica uma transformação na soma ponderada para determinar a saída do neurônio.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Char char="○"/>
            </a:pP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Comum em funções como ReLU (Rectified Linear Unit), Sigmoid, ou Tanh.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Saída (Output)</a:t>
            </a:r>
            <a:r>
              <a:rPr lang="en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O resultado final do neurônio, que pode ser uma entrada para outros neurônios ou uma previsão final.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45"/>
          <p:cNvSpPr txBox="1"/>
          <p:nvPr/>
        </p:nvSpPr>
        <p:spPr>
          <a:xfrm>
            <a:off x="396775" y="1606450"/>
            <a:ext cx="44724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Modelado a partir do neurônio biológico, que processa e transmite informações no cérebro. A função básica do neurônio é combinar as entradas de maneira ponderada e aplicar uma função de ativação, produzindo uma saída que é utilizada na próxima camada ou como resultado final do modelo,  permitindo que modelos aprendam padrões complexos a partir de dados.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6500" y="1422263"/>
            <a:ext cx="4575099" cy="2298987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6"/>
          <p:cNvSpPr txBox="1"/>
          <p:nvPr/>
        </p:nvSpPr>
        <p:spPr>
          <a:xfrm>
            <a:off x="240625" y="338100"/>
            <a:ext cx="8520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Deep Learning: Conceitos fundamentais</a:t>
            </a:r>
            <a:endParaRPr sz="2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46"/>
          <p:cNvSpPr txBox="1"/>
          <p:nvPr>
            <p:ph idx="1" type="body"/>
          </p:nvPr>
        </p:nvSpPr>
        <p:spPr>
          <a:xfrm>
            <a:off x="396775" y="1156975"/>
            <a:ext cx="4260300" cy="8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Funções de Ativação</a:t>
            </a:r>
            <a:endParaRPr b="1" sz="8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6"/>
          <p:cNvSpPr txBox="1"/>
          <p:nvPr/>
        </p:nvSpPr>
        <p:spPr>
          <a:xfrm>
            <a:off x="396775" y="1606450"/>
            <a:ext cx="40197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Uma das dificuldades em se modelar o mundo por meio de uma equação é a complexidade e não linearidade da realidade. Exemplo:  XOR (Um ou outro)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solução é o uso de funções de Ativação, que permite modelar relações não lineares.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Cada uma terá influência no Gradiente (impactando o tempo e a possibilidade de treinamento)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7"/>
          <p:cNvSpPr txBox="1"/>
          <p:nvPr>
            <p:ph type="title"/>
          </p:nvPr>
        </p:nvSpPr>
        <p:spPr>
          <a:xfrm>
            <a:off x="311700" y="445025"/>
            <a:ext cx="85206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Learning: Conceitos fundamentais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47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59" name="Google Shape;259;p47"/>
          <p:cNvSpPr txBox="1"/>
          <p:nvPr>
            <p:ph idx="1" type="body"/>
          </p:nvPr>
        </p:nvSpPr>
        <p:spPr>
          <a:xfrm>
            <a:off x="396775" y="1156975"/>
            <a:ext cx="5362500" cy="8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Profundidade e camadas de abstração</a:t>
            </a:r>
            <a:endParaRPr b="1" sz="8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7"/>
          <p:cNvSpPr txBox="1"/>
          <p:nvPr/>
        </p:nvSpPr>
        <p:spPr>
          <a:xfrm>
            <a:off x="375050" y="1875225"/>
            <a:ext cx="7487700" cy="29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Para descrever fenômenos complexos, algoritmos de Deep Learning fazem uso de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camadas de abstração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Os algoritmos extraem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features simples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dos dados fornecidos e,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 sequência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fornecem essas features para camadas seguintes que extraem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features mais complexas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à partir das features mais simples.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O aumento no número de camadas de um algoritmo de Deep Learning contribui para o aumento de sua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profundidade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8"/>
          <p:cNvSpPr txBox="1"/>
          <p:nvPr>
            <p:ph type="title"/>
          </p:nvPr>
        </p:nvSpPr>
        <p:spPr>
          <a:xfrm>
            <a:off x="311700" y="445025"/>
            <a:ext cx="85206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Learning: Conceitos fundamentais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48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67" name="Google Shape;267;p48"/>
          <p:cNvSpPr txBox="1"/>
          <p:nvPr>
            <p:ph idx="1" type="body"/>
          </p:nvPr>
        </p:nvSpPr>
        <p:spPr>
          <a:xfrm>
            <a:off x="396775" y="1156975"/>
            <a:ext cx="4260300" cy="8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Parâmetros vs. Hiperparâmetros: épocas, batch size, etc.</a:t>
            </a:r>
            <a:endParaRPr b="1" sz="8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8"/>
          <p:cNvSpPr txBox="1"/>
          <p:nvPr/>
        </p:nvSpPr>
        <p:spPr>
          <a:xfrm>
            <a:off x="482100" y="2384250"/>
            <a:ext cx="8350200" cy="21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Parâmetros são os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pesos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do modelo criado. Eles serão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modificados durante o treinamento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para gerar uma função que descreva o problema estudado.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Hiperparâmetros são os valores que que definem a estrutura do modelo. Exemplos: número de camadas e de neurônios por camada, batch size, learning rate, kernel size, etc.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9"/>
          <p:cNvSpPr txBox="1"/>
          <p:nvPr>
            <p:ph type="title"/>
          </p:nvPr>
        </p:nvSpPr>
        <p:spPr>
          <a:xfrm>
            <a:off x="311700" y="445025"/>
            <a:ext cx="85206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Learning: Conceitos fundamentais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49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75" name="Google Shape;275;p49"/>
          <p:cNvSpPr txBox="1"/>
          <p:nvPr>
            <p:ph idx="1" type="body"/>
          </p:nvPr>
        </p:nvSpPr>
        <p:spPr>
          <a:xfrm>
            <a:off x="396775" y="1156975"/>
            <a:ext cx="4428900" cy="5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Loss functions (funções de perda)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9"/>
          <p:cNvSpPr txBox="1"/>
          <p:nvPr/>
        </p:nvSpPr>
        <p:spPr>
          <a:xfrm>
            <a:off x="518700" y="1703575"/>
            <a:ext cx="8106600" cy="24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Para calcular a aproximação dos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resultados gerados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com os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resultados esperados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usamos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funções de perda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Problemas diferentes possuem funções de perda que </a:t>
            </a: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funcionam melhor que outras.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Exemplos: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Mean Squared Error (MSE) - Para problemas de regressão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Binary Cross-Entropy (Log Loss) - Para problemas de classificação binária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Categorical Cross-Entropy - Para problemas de multiclassificação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0"/>
          <p:cNvSpPr txBox="1"/>
          <p:nvPr>
            <p:ph type="title"/>
          </p:nvPr>
        </p:nvSpPr>
        <p:spPr>
          <a:xfrm>
            <a:off x="311700" y="445025"/>
            <a:ext cx="85206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Learning: Ferramentas para estudo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50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83" name="Google Shape;28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0175" y="1022225"/>
            <a:ext cx="4403625" cy="381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50"/>
          <p:cNvPicPr preferRelativeResize="0"/>
          <p:nvPr/>
        </p:nvPicPr>
        <p:blipFill rotWithShape="1">
          <a:blip r:embed="rId4">
            <a:alphaModFix/>
          </a:blip>
          <a:srcRect b="0" l="27142" r="27747" t="0"/>
          <a:stretch/>
        </p:blipFill>
        <p:spPr>
          <a:xfrm>
            <a:off x="3965800" y="1439325"/>
            <a:ext cx="1212401" cy="129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1700" y="3317750"/>
            <a:ext cx="1404675" cy="140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45825" y="3518351"/>
            <a:ext cx="2481974" cy="100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 txBox="1"/>
          <p:nvPr>
            <p:ph type="title"/>
          </p:nvPr>
        </p:nvSpPr>
        <p:spPr>
          <a:xfrm>
            <a:off x="311700" y="445025"/>
            <a:ext cx="85206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Learning: Ferramentas para estudo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51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293" name="Google Shape;29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031" y="1022225"/>
            <a:ext cx="1180368" cy="114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51"/>
          <p:cNvPicPr preferRelativeResize="0"/>
          <p:nvPr/>
        </p:nvPicPr>
        <p:blipFill rotWithShape="1">
          <a:blip r:embed="rId4">
            <a:alphaModFix/>
          </a:blip>
          <a:srcRect b="0" l="27142" r="27747" t="0"/>
          <a:stretch/>
        </p:blipFill>
        <p:spPr>
          <a:xfrm>
            <a:off x="772730" y="1147561"/>
            <a:ext cx="324972" cy="390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2356" y="1712014"/>
            <a:ext cx="376516" cy="422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1772294"/>
            <a:ext cx="665280" cy="301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22400" y="2786762"/>
            <a:ext cx="2932866" cy="8505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chemeClr val="dk1"/>
            </a:outerShdw>
          </a:effectLst>
        </p:spPr>
      </p:pic>
      <p:pic>
        <p:nvPicPr>
          <p:cNvPr id="298" name="Google Shape;298;p5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79200" y="1373621"/>
            <a:ext cx="4252607" cy="850525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st="9525">
              <a:schemeClr val="dk1"/>
            </a:outerShdw>
          </a:effectLst>
        </p:spPr>
      </p:pic>
      <p:pic>
        <p:nvPicPr>
          <p:cNvPr id="299" name="Google Shape;299;p5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6600" y="4046793"/>
            <a:ext cx="4201923" cy="804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chemeClr val="dk1">
                <a:alpha val="50000"/>
              </a:schemeClr>
            </a:outerShdw>
          </a:effectLst>
        </p:spPr>
      </p:pic>
      <p:pic>
        <p:nvPicPr>
          <p:cNvPr id="300" name="Google Shape;300;p5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757875" y="1712025"/>
            <a:ext cx="3074418" cy="16228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chemeClr val="dk1">
                <a:alpha val="50000"/>
              </a:schemeClr>
            </a:outerShdw>
          </a:effectLst>
        </p:spPr>
      </p:pic>
      <p:pic>
        <p:nvPicPr>
          <p:cNvPr id="301" name="Google Shape;301;p51"/>
          <p:cNvPicPr preferRelativeResize="0"/>
          <p:nvPr/>
        </p:nvPicPr>
        <p:blipFill rotWithShape="1">
          <a:blip r:embed="rId11">
            <a:alphaModFix/>
          </a:blip>
          <a:srcRect b="3200" l="-101288" r="0" t="-104488"/>
          <a:stretch/>
        </p:blipFill>
        <p:spPr>
          <a:xfrm>
            <a:off x="1649550" y="1262825"/>
            <a:ext cx="6904776" cy="36249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st="19050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2"/>
          <p:cNvSpPr txBox="1"/>
          <p:nvPr>
            <p:ph type="title"/>
          </p:nvPr>
        </p:nvSpPr>
        <p:spPr>
          <a:xfrm>
            <a:off x="311700" y="445025"/>
            <a:ext cx="85206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Learning: Sugestão de material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52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08" name="Google Shape;30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4625"/>
            <a:ext cx="4740775" cy="126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594400"/>
            <a:ext cx="4740774" cy="21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9700" y="1174625"/>
            <a:ext cx="2603050" cy="222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93175" y="3439225"/>
            <a:ext cx="4120251" cy="70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93175" y="4143575"/>
            <a:ext cx="4120251" cy="715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3"/>
          <p:cNvSpPr txBox="1"/>
          <p:nvPr>
            <p:ph type="title"/>
          </p:nvPr>
        </p:nvSpPr>
        <p:spPr>
          <a:xfrm>
            <a:off x="311700" y="445025"/>
            <a:ext cx="85206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Learning: Sugestão de material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53"/>
          <p:cNvSpPr/>
          <p:nvPr/>
        </p:nvSpPr>
        <p:spPr>
          <a:xfrm>
            <a:off x="311700" y="111975"/>
            <a:ext cx="2019000" cy="198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mfortaa"/>
                <a:ea typeface="Comfortaa"/>
                <a:cs typeface="Comfortaa"/>
                <a:sym typeface="Comfortaa"/>
              </a:rPr>
              <a:t>Introdução a Deep Learning</a:t>
            </a:r>
            <a:endParaRPr sz="8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19" name="Google Shape;31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7950" y="1022225"/>
            <a:ext cx="4182126" cy="3691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22225"/>
            <a:ext cx="4152949" cy="15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825" y="2696625"/>
            <a:ext cx="4128693" cy="22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